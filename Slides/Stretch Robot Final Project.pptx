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2000"/>
  <p:notesSz cx="6858000" cy="9144000"/>
  <p:embeddedFontLst>
    <p:embeddedFont>
      <p:font typeface="DM Sans Medium"/>
      <p:regular r:id="rId11"/>
      <p:bold r:id="rId12"/>
      <p:italic r:id="rId13"/>
      <p:boldItalic r:id="rId14"/>
    </p:embeddedFont>
    <p:embeddedFont>
      <p:font typeface="Merriweather"/>
      <p:regular r:id="rId15"/>
      <p:bold r:id="rId16"/>
      <p:italic r:id="rId17"/>
      <p:boldItalic r:id="rId18"/>
    </p:embeddedFont>
    <p:embeddedFont>
      <p:font typeface="DM Sa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bold.fntdata"/><Relationship Id="rId11" Type="http://schemas.openxmlformats.org/officeDocument/2006/relationships/font" Target="fonts/DMSansMedium-regular.fntdata"/><Relationship Id="rId22" Type="http://schemas.openxmlformats.org/officeDocument/2006/relationships/font" Target="fonts/DMSans-boldItalic.fntdata"/><Relationship Id="rId10" Type="http://schemas.openxmlformats.org/officeDocument/2006/relationships/slide" Target="slides/slide5.xml"/><Relationship Id="rId21" Type="http://schemas.openxmlformats.org/officeDocument/2006/relationships/font" Target="fonts/DMSans-italic.fntdata"/><Relationship Id="rId13" Type="http://schemas.openxmlformats.org/officeDocument/2006/relationships/font" Target="fonts/DMSansMedium-italic.fntdata"/><Relationship Id="rId12" Type="http://schemas.openxmlformats.org/officeDocument/2006/relationships/font" Target="fonts/DMSans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erriweather-regular.fntdata"/><Relationship Id="rId14" Type="http://schemas.openxmlformats.org/officeDocument/2006/relationships/font" Target="fonts/DMSansMedium-boldItalic.fntdata"/><Relationship Id="rId17" Type="http://schemas.openxmlformats.org/officeDocument/2006/relationships/font" Target="fonts/Merriweather-italic.fntdata"/><Relationship Id="rId16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regular.fntdata"/><Relationship Id="rId6" Type="http://schemas.openxmlformats.org/officeDocument/2006/relationships/slide" Target="slides/slide1.xml"/><Relationship Id="rId18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2.png"/><Relationship Id="rId7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6.png"/><Relationship Id="rId9" Type="http://schemas.openxmlformats.org/officeDocument/2006/relationships/image" Target="../media/image18.png"/><Relationship Id="rId5" Type="http://schemas.openxmlformats.org/officeDocument/2006/relationships/image" Target="../media/image3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.png"/><Relationship Id="rId10" Type="http://schemas.openxmlformats.org/officeDocument/2006/relationships/image" Target="../media/image19.png"/><Relationship Id="rId9" Type="http://schemas.openxmlformats.org/officeDocument/2006/relationships/image" Target="../media/image21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20.png"/><Relationship Id="rId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524500" y="2552700"/>
            <a:ext cx="1143000" cy="3810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2500550" y="2876550"/>
            <a:ext cx="719089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Final Project: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 Stretch Proof of Concept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71800" y="4333875"/>
            <a:ext cx="62484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Feasibility Demonstrations &amp; Design Pitch Frameworks 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6618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93556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17581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2738437" y="571500"/>
            <a:ext cx="8882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The Pitch Strategy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71500" y="2767012"/>
            <a:ext cx="11049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005088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Build a convincing proof-of-concept demonstration rather than a finished, production-ready system.</a:t>
            </a:r>
            <a:endParaRPr/>
          </a:p>
        </p:txBody>
      </p:sp>
      <p:pic>
        <p:nvPicPr>
          <p:cNvPr descr="image.png" id="98" name="Google Shape;9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2700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1000125" y="3957637"/>
            <a:ext cx="10620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Identify a practical real-world application domain use case.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000125" y="4471987"/>
            <a:ext cx="10620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Validate feasibility given specific robot hardware boundaries.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1000125" y="4986337"/>
            <a:ext cx="106203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Deploy inside the stretch_mujoco_digital_twin environment.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019550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533900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5048250"/>
            <a:ext cx="26670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2357437" y="571500"/>
            <a:ext cx="9263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1" name="Google Shape;11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152775"/>
            <a:ext cx="5334000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3152775"/>
            <a:ext cx="5334000" cy="248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Potential Application Paths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2571750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Explore any domain making genuine use of Stretch capabilities:</a:t>
            </a:r>
            <a:endParaRPr/>
          </a:p>
        </p:txBody>
      </p:sp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72700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257300" y="3495675"/>
            <a:ext cx="4520565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Assistive Systems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914400" y="4038600"/>
            <a:ext cx="4648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Helping individuals with limited structural mobility execute everyday foundational lifestyle tasks safely.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7000875" y="3495675"/>
            <a:ext cx="449056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Sorting &amp; Logistics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629400" y="4038600"/>
            <a:ext cx="46482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Advanced object manipulation, structured workspace sorting, navigation, and fetch-and-carry tasks.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14400" y="3529012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629400" y="3529012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1914525" y="571500"/>
            <a:ext cx="9705975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633662"/>
            <a:ext cx="542925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2633662"/>
            <a:ext cx="542925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491037"/>
            <a:ext cx="5429250" cy="1666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1250" y="4491037"/>
            <a:ext cx="5429250" cy="166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62000" y="933450"/>
            <a:ext cx="11401425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Core Evaluation Layout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933450"/>
            <a:ext cx="76200" cy="47625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 txBox="1"/>
          <p:nvPr/>
        </p:nvSpPr>
        <p:spPr>
          <a:xfrm>
            <a:off x="571500" y="2052637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The total score is divided across four equally-weighted metric branches:</a:t>
            </a:r>
            <a:endParaRPr/>
          </a:p>
        </p:txBody>
      </p:sp>
      <p:pic>
        <p:nvPicPr>
          <p:cNvPr descr="image.png" id="136" name="Google Shape;13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277475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6"/>
          <p:cNvSpPr txBox="1"/>
          <p:nvPr/>
        </p:nvSpPr>
        <p:spPr>
          <a:xfrm>
            <a:off x="1209675" y="2833687"/>
            <a:ext cx="4720590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Idea &amp; Feasibility (25%)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66775" y="3338512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 the domain scope appropriately ambitious yet technically bounded?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896100" y="2833687"/>
            <a:ext cx="46505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Implementation (25%)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486525" y="3338512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Does the solution code make robust, genuine use of autonomous design metrics?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276350" y="4691062"/>
            <a:ext cx="4650581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Presentation (25%)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66775" y="5195887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Is the live or recorded pitch argument clear, convincing, and structured?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858000" y="4691062"/>
            <a:ext cx="4690586" cy="3143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Video Delivery (25%)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486525" y="5195887"/>
            <a:ext cx="4838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Does the video media clearly explain operation logic without auxiliary text?</a:t>
            </a:r>
            <a:endParaRPr/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867025"/>
            <a:ext cx="2476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86525" y="2867025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4724400"/>
            <a:ext cx="3143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86525" y="4724400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2357437" y="571500"/>
            <a:ext cx="9263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DFCF0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5" name="Google Shape;1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09750" y="2028825"/>
            <a:ext cx="8572500" cy="406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295275" y="933450"/>
            <a:ext cx="116014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Merriweather"/>
                <a:ea typeface="Merriweather"/>
                <a:cs typeface="Merriweather"/>
                <a:sym typeface="Merriweather"/>
              </a:rPr>
              <a:t>Submission Requirements</a:t>
            </a:r>
            <a:endParaRPr/>
          </a:p>
        </p:txBody>
      </p:sp>
      <p:pic>
        <p:nvPicPr>
          <p:cNvPr descr="image.png" id="157" name="Google Shape;15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6618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593556" y="581025"/>
            <a:ext cx="2047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17581" y="581025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2152650" y="2619375"/>
            <a:ext cx="7886700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762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005088"/>
                </a:solidFill>
                <a:latin typeface="DM Sans"/>
                <a:ea typeface="DM Sans"/>
                <a:cs typeface="DM Sans"/>
                <a:sym typeface="DM Sans"/>
              </a:rPr>
              <a:t>The Written and Digital Deliverables</a:t>
            </a:r>
            <a:endParaRPr/>
          </a:p>
        </p:txBody>
      </p:sp>
      <p:pic>
        <p:nvPicPr>
          <p:cNvPr descr="image.png" id="161" name="Google Shape;16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152650" y="2676525"/>
            <a:ext cx="2762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7"/>
          <p:cNvSpPr txBox="1"/>
          <p:nvPr/>
        </p:nvSpPr>
        <p:spPr>
          <a:xfrm>
            <a:off x="2551658" y="3181350"/>
            <a:ext cx="7487691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1. System Code: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Clean executable scripts targeting the digital twin platform.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2559843" y="4038600"/>
            <a:ext cx="747950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2. Project Report: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Written project report detailing design choice choices.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2521743" y="4895850"/>
            <a:ext cx="7517606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3. Pitch Video:</a:t>
            </a:r>
            <a:r>
              <a:rPr b="0" i="0" lang="en-US" sz="1800" u="none" cap="none" strike="noStrik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 Explanatory project video demonstrating runtime success parameters.</a:t>
            </a:r>
            <a:endParaRPr/>
          </a:p>
        </p:txBody>
      </p:sp>
      <p:pic>
        <p:nvPicPr>
          <p:cNvPr descr="image.png" id="165" name="Google Shape;165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152650" y="341471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2152650" y="4271962"/>
            <a:ext cx="161925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152650" y="512921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7"/>
          <p:cNvSpPr txBox="1"/>
          <p:nvPr/>
        </p:nvSpPr>
        <p:spPr>
          <a:xfrm>
            <a:off x="2738437" y="571500"/>
            <a:ext cx="8882062" cy="171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Tec de Monterrey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Hello Robot</a:t>
            </a:r>
            <a:r>
              <a:rPr b="0" i="0" lang="en-US" sz="1200" u="none" cap="none" strike="noStrike">
                <a:solidFill>
                  <a:srgbClr val="1E293B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1" i="0" lang="en-US" sz="1200" u="none" cap="none" strike="noStrik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 KeyPrediction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