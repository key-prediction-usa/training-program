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DM Sans Medium"/>
      <p:regular r:id="rId11"/>
      <p:bold r:id="rId12"/>
      <p:italic r:id="rId13"/>
      <p:boldItalic r:id="rId14"/>
    </p:embeddedFont>
    <p:embeddedFont>
      <p:font typeface="Merriweather"/>
      <p:regular r:id="rId15"/>
      <p:bold r:id="rId16"/>
      <p:italic r:id="rId17"/>
      <p:boldItalic r:id="rId18"/>
    </p:embeddedFont>
    <p:embeddedFont>
      <p:font typeface="DM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.fntdata"/><Relationship Id="rId11" Type="http://schemas.openxmlformats.org/officeDocument/2006/relationships/font" Target="fonts/DMSansMedium-regular.fntdata"/><Relationship Id="rId22" Type="http://schemas.openxmlformats.org/officeDocument/2006/relationships/font" Target="fonts/DMSans-boldItalic.fntdata"/><Relationship Id="rId10" Type="http://schemas.openxmlformats.org/officeDocument/2006/relationships/slide" Target="slides/slide5.xml"/><Relationship Id="rId21" Type="http://schemas.openxmlformats.org/officeDocument/2006/relationships/font" Target="fonts/DMSans-italic.fntdata"/><Relationship Id="rId13" Type="http://schemas.openxmlformats.org/officeDocument/2006/relationships/font" Target="fonts/DMSansMedium-italic.fntdata"/><Relationship Id="rId12" Type="http://schemas.openxmlformats.org/officeDocument/2006/relationships/font" Target="fonts/DMSans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regular.fntdata"/><Relationship Id="rId14" Type="http://schemas.openxmlformats.org/officeDocument/2006/relationships/font" Target="fonts/DMSansMedium-boldItalic.fntdata"/><Relationship Id="rId17" Type="http://schemas.openxmlformats.org/officeDocument/2006/relationships/font" Target="fonts/Merriweather-italic.fntdata"/><Relationship Id="rId16" Type="http://schemas.openxmlformats.org/officeDocument/2006/relationships/font" Target="fonts/Merriweather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regular.fntdata"/><Relationship Id="rId6" Type="http://schemas.openxmlformats.org/officeDocument/2006/relationships/slide" Target="slides/slide1.xml"/><Relationship Id="rId18" Type="http://schemas.openxmlformats.org/officeDocument/2006/relationships/font" Target="fonts/Merriweath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5" Type="http://schemas.openxmlformats.org/officeDocument/2006/relationships/image" Target="../media/image9.png"/><Relationship Id="rId6" Type="http://schemas.openxmlformats.org/officeDocument/2006/relationships/image" Target="../media/image6.png"/><Relationship Id="rId7" Type="http://schemas.openxmlformats.org/officeDocument/2006/relationships/image" Target="../media/image8.png"/><Relationship Id="rId8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13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5524500" y="2539454"/>
            <a:ext cx="11430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2790586" y="2863304"/>
            <a:ext cx="6610826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Practice 4: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Half-Term Challenge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695700" y="4347120"/>
            <a:ext cx="48006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Autonomous Object Manipulation Pipeline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6618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3556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7581" y="581025"/>
            <a:ext cx="14763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2738437" y="571500"/>
            <a:ext cx="88820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Tec de Monterrey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Hello Robot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KeyPrediction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762000" y="93345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Operational Goal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" y="933450"/>
            <a:ext cx="76200" cy="47625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2652712"/>
            <a:ext cx="1104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Build a complete, non-interventional state machine pipeline to detect, approach, and grab a target object.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72700" y="581025"/>
            <a:ext cx="14763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000125" y="3948112"/>
            <a:ext cx="106203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3D Object Localization via depth sensing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00125" y="4510087"/>
            <a:ext cx="106203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Multi-phase sequential state architecture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00125" y="5072062"/>
            <a:ext cx="106203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Safe closing and payload lifting sequence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100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720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133975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2357437" y="571500"/>
            <a:ext cx="92630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Tec de Monterrey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KeyPrediction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/>
        </p:nvSpPr>
        <p:spPr>
          <a:xfrm>
            <a:off x="762000" y="93345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Incremental Script Architecture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71500" y="933450"/>
            <a:ext cx="76200" cy="47625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72700" y="581025"/>
            <a:ext cx="14763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1000125" y="2534989"/>
            <a:ext cx="10620375" cy="391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p4_1_locate_object.py — Stationary 3D plotting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000125" y="3117353"/>
            <a:ext cx="10620375" cy="391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p4_2_approach.py — Navigation via Flank mode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000125" y="3699718"/>
            <a:ext cx="10620375" cy="391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p4_3_align.py — Fine wrist-camera tracking adjustments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000125" y="4282082"/>
            <a:ext cx="10620375" cy="391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p4_4_reach.py — Arm extension until target depth (~12 cm)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000125" y="4864447"/>
            <a:ext cx="10620375" cy="391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p4_5_grab.py — Closed gripper lifting execution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0702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8938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77175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35411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93648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1914525" y="571500"/>
            <a:ext cx="97059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Hello Robot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KeyPrediction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747962"/>
            <a:ext cx="5334000" cy="2486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747962"/>
            <a:ext cx="5334000" cy="24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762000" y="93345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Critical Control Conditions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933450"/>
            <a:ext cx="76200" cy="47625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77475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1323975" y="3090862"/>
            <a:ext cx="445055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Flank Approach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914400" y="3633787"/>
            <a:ext cx="46482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robot presents its flank side rather than driving straight forward to clear visual blocks and ensure optimal mechanics.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943725" y="3090862"/>
            <a:ext cx="455056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Reach Threshold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629400" y="3633787"/>
            <a:ext cx="46482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Arm extension transitions precisely based on continuous distance updates until depth readings settle below 12 cm.</a:t>
            </a:r>
            <a:endParaRPr/>
          </a:p>
        </p:txBody>
      </p:sp>
      <p:pic>
        <p:nvPicPr>
          <p:cNvPr descr="image.png" id="140" name="Google Shape;14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3124200"/>
            <a:ext cx="314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29400" y="3124200"/>
            <a:ext cx="2190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2357437" y="571500"/>
            <a:ext cx="92630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Tec de Monterrey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Hello Robot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0" y="1981200"/>
            <a:ext cx="8572500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295275" y="9334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Challenge Deliverables</a:t>
            </a:r>
            <a:endParaRPr/>
          </a:p>
        </p:txBody>
      </p:sp>
      <p:pic>
        <p:nvPicPr>
          <p:cNvPr descr="image.png"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6618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3556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7581" y="581025"/>
            <a:ext cx="14763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2152650" y="2552700"/>
            <a:ext cx="788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Screen Capture + Voiceover Walkthrough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2152650" y="3086100"/>
            <a:ext cx="7886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 Visible execution showing continuous transitions (Approach → Align → Reach → Grab)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2152650" y="3562350"/>
            <a:ext cx="7886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 Operational explanation of 3D frame localization via forward kinematics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2152650" y="4038600"/>
            <a:ext cx="7886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 Structural answer defining why the robot approaches via flank orientation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2152650" y="4514850"/>
            <a:ext cx="7886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 Breakdown of the 3 transition rules required to initiate the grab sequence safely</a:t>
            </a:r>
            <a:endParaRPr/>
          </a:p>
        </p:txBody>
      </p:sp>
      <p:pic>
        <p:nvPicPr>
          <p:cNvPr descr="image.png" id="157" name="Google Shape;15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52650" y="26003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2738437" y="571500"/>
            <a:ext cx="88820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Tec de Monterrey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Hello Robot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KeyPrediction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